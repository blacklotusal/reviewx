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f3c7d974b481f" /><Relationship Type="http://schemas.openxmlformats.org/officeDocument/2006/relationships/extended-properties" Target="/docProps/app.xml" Id="R68bed345dcf74028" /><Relationship Type="http://schemas.openxmlformats.org/officeDocument/2006/relationships/officeDocument" Target="/ppt/presentation.xml" Id="R9d96db67eefd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28d8b5cd04c26"/>
  </p:sldMasterIdLst>
  <p:notesMasterIdLst>
    <p:notesMasterId xmlns:r="http://schemas.openxmlformats.org/officeDocument/2006/relationships" r:id="Re1052dec12c641b2"/>
  </p:notesMasterIdLst>
  <p:sldIdLst>
    <p:sldId xmlns:r="http://schemas.openxmlformats.org/officeDocument/2006/relationships" id="256" r:id="R72d8fcec134c4b36"/>
    <p:sldId xmlns:r="http://schemas.openxmlformats.org/officeDocument/2006/relationships" id="257" r:id="Rfa32789bf1db4025"/>
    <p:sldId xmlns:r="http://schemas.openxmlformats.org/officeDocument/2006/relationships" id="258" r:id="R8302159cda95403c"/>
    <p:sldId xmlns:r="http://schemas.openxmlformats.org/officeDocument/2006/relationships" id="259" r:id="R0f3a6476ebe24fd4"/>
    <p:sldId xmlns:r="http://schemas.openxmlformats.org/officeDocument/2006/relationships" id="260" r:id="R1cb15c54f204436b"/>
    <p:sldId xmlns:r="http://schemas.openxmlformats.org/officeDocument/2006/relationships" id="261" r:id="Ra732cf4948e3417b"/>
    <p:sldId xmlns:r="http://schemas.openxmlformats.org/officeDocument/2006/relationships" id="262" r:id="R4e7bb37127364115"/>
    <p:sldId xmlns:r="http://schemas.openxmlformats.org/officeDocument/2006/relationships" id="263" r:id="R8f6be7bf4b3c410e"/>
    <p:sldId xmlns:r="http://schemas.openxmlformats.org/officeDocument/2006/relationships" id="264" r:id="Rb6bda49f60e84e97"/>
    <p:sldId xmlns:r="http://schemas.openxmlformats.org/officeDocument/2006/relationships" id="265" r:id="R274aa425a06f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59538e161491d" /><Relationship Type="http://schemas.openxmlformats.org/officeDocument/2006/relationships/slideMaster" Target="/ppt/slideMasters/slideMaster1.xml" Id="Ra5228d8b5cd04c26" /><Relationship Type="http://schemas.openxmlformats.org/officeDocument/2006/relationships/notesMaster" Target="/ppt/notesMasters/notesMaster1.xml" Id="Re1052dec12c641b2" /><Relationship Type="http://schemas.openxmlformats.org/officeDocument/2006/relationships/presProps" Target="/ppt/presProps.xml" Id="Rf51921e7dde54909" /><Relationship Type="http://schemas.openxmlformats.org/officeDocument/2006/relationships/tableStyles" Target="/ppt/tableStyles.xml" Id="R937cdb185c634e3d" /><Relationship Type="http://schemas.openxmlformats.org/officeDocument/2006/relationships/slide" Target="/ppt/slides/slide1.xml" Id="R72d8fcec134c4b36" /><Relationship Type="http://schemas.openxmlformats.org/officeDocument/2006/relationships/slide" Target="/ppt/slides/slide2.xml" Id="Rfa32789bf1db4025" /><Relationship Type="http://schemas.openxmlformats.org/officeDocument/2006/relationships/slide" Target="/ppt/slides/slide3.xml" Id="R8302159cda95403c" /><Relationship Type="http://schemas.openxmlformats.org/officeDocument/2006/relationships/slide" Target="/ppt/slides/slide4.xml" Id="R0f3a6476ebe24fd4" /><Relationship Type="http://schemas.openxmlformats.org/officeDocument/2006/relationships/slide" Target="/ppt/slides/slide5.xml" Id="R1cb15c54f204436b" /><Relationship Type="http://schemas.openxmlformats.org/officeDocument/2006/relationships/slide" Target="/ppt/slides/slide6.xml" Id="Ra732cf4948e3417b" /><Relationship Type="http://schemas.openxmlformats.org/officeDocument/2006/relationships/slide" Target="/ppt/slides/slide7.xml" Id="R4e7bb37127364115" /><Relationship Type="http://schemas.openxmlformats.org/officeDocument/2006/relationships/slide" Target="/ppt/slides/slide8.xml" Id="R8f6be7bf4b3c410e" /><Relationship Type="http://schemas.openxmlformats.org/officeDocument/2006/relationships/slide" Target="/ppt/slides/slide9.xml" Id="Rb6bda49f60e84e97" /><Relationship Type="http://schemas.openxmlformats.org/officeDocument/2006/relationships/slide" Target="/ppt/slides/slide10.xml" Id="R274aa425a06f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17c196f1449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cb2f493bd4d27" /><Relationship Type="http://schemas.openxmlformats.org/officeDocument/2006/relationships/notesMaster" Target="/ppt/notesMasters/notesMaster1.xml" Id="R23bac60ebc7b42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95f3b33364b5b" /><Relationship Type="http://schemas.openxmlformats.org/officeDocument/2006/relationships/notesMaster" Target="/ppt/notesMasters/notesMaster1.xml" Id="R7b1ac9cc3c9542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1a0d6780b4e18" /><Relationship Type="http://schemas.openxmlformats.org/officeDocument/2006/relationships/notesMaster" Target="/ppt/notesMasters/notesMaster1.xml" Id="R1ded6bfb6e9840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29de1d6c97413a" /><Relationship Type="http://schemas.openxmlformats.org/officeDocument/2006/relationships/notesMaster" Target="/ppt/notesMasters/notesMaster1.xml" Id="R737a216b512d40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b03e5f17c427c" /><Relationship Type="http://schemas.openxmlformats.org/officeDocument/2006/relationships/notesMaster" Target="/ppt/notesMasters/notesMaster1.xml" Id="R12443ac46dfc46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0fcfa466944b28" /><Relationship Type="http://schemas.openxmlformats.org/officeDocument/2006/relationships/notesMaster" Target="/ppt/notesMasters/notesMaster1.xml" Id="Rd60356dee43c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44493b8a2e4754" /><Relationship Type="http://schemas.openxmlformats.org/officeDocument/2006/relationships/notesMaster" Target="/ppt/notesMasters/notesMaster1.xml" Id="Rf78aaa590384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4149940b544b7" /><Relationship Type="http://schemas.openxmlformats.org/officeDocument/2006/relationships/notesMaster" Target="/ppt/notesMasters/notesMaster1.xml" Id="Rd143b2d83b0648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9b22fac17a4ffe" /><Relationship Type="http://schemas.openxmlformats.org/officeDocument/2006/relationships/notesMaster" Target="/ppt/notesMasters/notesMaster1.xml" Id="R8ac8c959a24040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1f921ce1d24dc6" /><Relationship Type="http://schemas.openxmlformats.org/officeDocument/2006/relationships/notesMaster" Target="/ppt/notesMasters/notesMaster1.xml" Id="R5f28d1e17ad6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今天不做一场安装教程，也不罗列所有快捷键。我们只回答三个主管最关心的问题：OpenCode 值得放进研发流程吗；怎样用才稳定；怎样把权限、成本和风险管住。整场分享的主线是“可审查的研发闭环”。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https://opencode.ai/docs/_astro/screenshot.CQjBbRyJ_1dLadc.webp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 的管理价值不在于“又多一个 AI 工具”，而在三件事。第一，模型与提供商可替换，避免把研发流程完全绑在一个入口上。第二，工作流可以沉淀成规则、命令、Agent、Skill 和 MCP。第三，权限可以按工具、命令和 Agent 配置，让自主性与治理同时存在。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https://opencode.ai/docs/providers/</a:t>
            </a:r>
          </a:p>
          <a:p xmlns:a="http://schemas.openxmlformats.org/drawingml/2006/main">
            <a:r>
              <a:t>- https://opencode.ai/docs/agents/</a:t>
            </a:r>
          </a:p>
          <a:p xmlns:a="http://schemas.openxmlformats.org/drawingml/2006/main">
            <a:r>
              <a:t>- https://opencode.ai/docs/commands/</a:t>
            </a:r>
          </a:p>
          <a:p xmlns:a="http://schemas.openxmlformats.org/drawingml/2006/main">
            <a:r>
              <a:t>- https://opencode.ai/docs/skills/</a:t>
            </a:r>
          </a:p>
          <a:p xmlns:a="http://schemas.openxmlformats.org/drawingml/2006/main">
            <a:r>
              <a:t>- https://opencode.ai/docs/permissions/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这页不要讲成产品评测。OpenCode 的核心位置是开源、模型选择自由、可组合；Cursor 更像编辑器一体化体验；Claude Code 强调 Claude 生态下的深度 Agent 工作流；Codex 覆盖 CLI、IDE、App 与 Cloud，并与 OpenAI/ChatGPT 体系结合。最后一列是基于公开能力的讲者判断，不是官方结论。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https://docs.cursor.com/en/get-started/quickstart</a:t>
            </a:r>
          </a:p>
          <a:p xmlns:a="http://schemas.openxmlformats.org/drawingml/2006/main">
            <a:r>
              <a:t>- https://docs.cursor.com/models/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https://code.claude.com/docs/en/features-overview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https://learn.chatgpt.com/docs/codex/ide</a:t>
            </a:r>
          </a:p>
          <a:p xmlns:a="http://schemas.openxmlformats.org/drawingml/2006/main">
            <a:r>
              <a:t>- https://learn.chatgpt.com/docs/cloud</a:t>
            </a:r>
          </a:p>
          <a:p xmlns:a="http://schemas.openxmlformats.org/drawingml/2006/main">
            <a:r>
              <a:t>- https://openai.com/codex/get-started/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这是我认为最重要的一条经验：不要追求“聪明的提示词”，要给一份可执行的工作合同。复杂任务先只读分析和计划；把允许修改的范围说清；明确验收标准；要求给出测试、diff 和残余风险。这样做不是限制模型，而是减少无效探索与返工。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https://opencode.ai/docs/tui/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稳定产出来自循环，而不是一次生成。第一段先读和定位；第二段先计划再小步修改；第三段必须测试、审查 diff，并决定接受、继续迭代还是回滚。OpenCode 的 Plan/Build、权限和 undo/redo 都服务于这个闭环。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https://opencode.ai/docs/tui/</a:t>
            </a:r>
          </a:p>
          <a:p xmlns:a="http://schemas.openxmlformats.org/drawingml/2006/main">
            <a:r>
              <a:t>- https://opencode.ai/docs/permissions/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团队试用时不要从“让它独立完成一个大功能”开始。这四类任务更适合积累成功经验：读懂陌生模块、定位有证据的 bug、边界清楚的改造、以及对现有 diff 的审查。每条提示都要求先读、限定范围、给验证证据。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https://opencode.ai/docs/tui/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高手和普通使用者的分水岭，不是会不会写更长的 prompt，而是能不能把有效做法沉淀下来。AGENTS.md 放长期规则；Commands 放重复入口；Agents 和 Skills 放角色与流程；MCP 连接外部工具，模型路由负责速度、成本与能力的取舍。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https://opencode.ai/docs/rules/</a:t>
            </a:r>
          </a:p>
          <a:p xmlns:a="http://schemas.openxmlformats.org/drawingml/2006/main">
            <a:r>
              <a:t>- https://opencode.ai/docs/commands/</a:t>
            </a:r>
          </a:p>
          <a:p xmlns:a="http://schemas.openxmlformats.org/drawingml/2006/main">
            <a:r>
              <a:t>- https://opencode.ai/docs/agents/</a:t>
            </a:r>
          </a:p>
          <a:p xmlns:a="http://schemas.openxmlformats.org/drawingml/2006/main">
            <a:r>
              <a:t>- https://opencode.ai/docs/skills/</a:t>
            </a:r>
          </a:p>
          <a:p xmlns:a="http://schemas.openxmlformats.org/drawingml/2006/main">
            <a:r>
              <a:t>- https://opencode.ai/docs/mcp-servers/</a:t>
            </a:r>
          </a:p>
          <a:p xmlns:a="http://schemas.openxmlformats.org/drawingml/2006/main">
            <a:r>
              <a:t>- https://opencode.ai/docs/providers/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权限不要靠“大家注意一点”。OpenCode 可以按 allow、ask、deny 配置动作，还能按 Agent 和具体命令细分。共享会话会产生可访问链接，敏感仓库应直接禁用。卡片里的内容是一份建议基线，具体规则要由安全、平台和项目负责人共同确定。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https://opencode.ai/docs/permissions/</a:t>
            </a:r>
          </a:p>
          <a:p xmlns:a="http://schemas.openxmlformats.org/drawingml/2006/main">
            <a:r>
              <a:t>- https://opencode.ai/docs/agents/</a:t>
            </a:r>
          </a:p>
          <a:p xmlns:a="http://schemas.openxmlformats.org/drawingml/2006/main">
            <a:r>
              <a:t>- https://opencode.ai/docs/share/</a:t>
            </a:r>
          </a:p>
          <a:p xmlns:a="http://schemas.openxmlformats.org/drawingml/2006/main">
            <a:r>
              <a:t>- https://opencode.ai/docs/providers/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一上来就全员推广。两周足够验证方向：先选一个熟悉的仓库和三类低风险任务，形成权限与模型基线；再让小范围人员完成真实任务，并保留提示、diff、测试和成本证据；最后把有效做法沉淀成规则和命令，再决定扩大、调整或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https://opencode.ai/docs/rules/</a:t>
            </a:r>
          </a:p>
          <a:p xmlns:a="http://schemas.openxmlformats.org/drawingml/2006/main">
            <a:r>
              <a:t>- https://opencode.ai/docs/commands/</a:t>
            </a:r>
          </a:p>
          <a:p xmlns:a="http://schemas.openxmlformats.org/drawingml/2006/main">
            <a:r>
              <a:t>- https://opencode.ai/docs/permissions/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最后只留下一个行动建议：选择一个熟悉仓库、三类边界清楚的任务，跑两周试点。评估标准不是生成了多少代码，而是能否更快得到测试通过、Review 可接受、风险可解释的结果。主管真正要批准的，是一套受控试验，而不是一次工具采购。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</a:t>
            </a:r>
          </a:p>
          <a:p xmlns:a="http://schemas.openxmlformats.org/drawingml/2006/main">
            <a:r>
              <a:t>- https://opencode.ai/docs/permissions/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a83e502d24c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bc144214b46aa" /><Relationship Type="http://schemas.openxmlformats.org/officeDocument/2006/relationships/slideLayout" Target="/ppt/slideLayouts/slideLayout1.xml" Id="R0b2ec9a93bf143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ec9a93bf143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6c23a5ae0408c" /><Relationship Type="http://schemas.openxmlformats.org/officeDocument/2006/relationships/image" Target="/ppt/media/image.png" Id="Rf6945fc3575f4c69" /><Relationship Type="http://schemas.openxmlformats.org/officeDocument/2006/relationships/notesSlide" Target="/ppt/notesSlides/notesSlide1.xml" Id="R649e77bd6e11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ada638e34120" /><Relationship Type="http://schemas.openxmlformats.org/officeDocument/2006/relationships/notesSlide" Target="/ppt/notesSlides/notesSlide2.xml" Id="R5a6e85644997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e90857da416d" /><Relationship Type="http://schemas.openxmlformats.org/officeDocument/2006/relationships/notesSlide" Target="/ppt/notesSlides/notesSlide3.xml" Id="Rbdccd6ce5b0444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84cab5a14432e" /><Relationship Type="http://schemas.openxmlformats.org/officeDocument/2006/relationships/notesSlide" Target="/ppt/notesSlides/notesSlide4.xml" Id="Rf8ee131215964f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33f149e843da" /><Relationship Type="http://schemas.openxmlformats.org/officeDocument/2006/relationships/notesSlide" Target="/ppt/notesSlides/notesSlide5.xml" Id="R5b3cec405a6e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2911d0a104839" /><Relationship Type="http://schemas.openxmlformats.org/officeDocument/2006/relationships/notesSlide" Target="/ppt/notesSlides/notesSlide6.xml" Id="Rc6ba1b19ff4742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33955998b4566" /><Relationship Type="http://schemas.openxmlformats.org/officeDocument/2006/relationships/notesSlide" Target="/ppt/notesSlides/notesSlide7.xml" Id="R7b393176981d46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14809ac8c42a9" /><Relationship Type="http://schemas.openxmlformats.org/officeDocument/2006/relationships/notesSlide" Target="/ppt/notesSlides/notesSlide8.xml" Id="R8a1b15a342cc43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813d187b741c5" /><Relationship Type="http://schemas.openxmlformats.org/officeDocument/2006/relationships/notesSlide" Target="/ppt/notesSlides/notesSlide9.xml" Id="R01f3231600ac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a6d0806c94992" /><Relationship Type="http://schemas.openxmlformats.org/officeDocument/2006/relationships/notesSlide" Target="/ppt/notesSlides/notesSlide10.xml" Id="Rca782ef0ec7e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E4CC6E2-72E0-4D3A-8CAC-C002AC1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软件部门主管分享 · 2026.07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C725E5-0611-4C71-B4D4-23ECC60C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47800"/>
            <a:ext cx="52863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OpenCode：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从“会用”到“会玩”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DFF1C83-847E-47BE-B8C7-E38ED1A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把编程智能体接入真实研发闭环，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而不只是多一个聊天窗口</a:t>
            </a:r>
          </a:p>
        </p:txBody>
      </p:sp>
      <p:sp>
        <p:nvSpPr>
          <p:cNvPr id="4" name="cover-image-panel">
            <a:extLst xmlns:a="http://schemas.openxmlformats.org/drawingml/2006/main">
              <a:ext uri="{FF2B5EF4-FFF2-40B4-BE49-F238E27FC236}">
                <a16:creationId xmlns:a16="http://schemas.microsoft.com/office/drawing/2014/main" id="{6EAA1063-DB4F-4732-81A4-952ACB8A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0525"/>
            <a:ext cx="5810250" cy="5610225"/>
          </a:xfrm>
          <a:prstGeom xmlns:a="http://schemas.openxmlformats.org/drawingml/2006/main" prst="roundRect">
            <a:avLst>
              <a:gd name="adj" fmla="val 23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45fc3575f4c69"/>
          <a:stretch xmlns:a="http://schemas.openxmlformats.org/drawingml/2006/main"/>
        </p:blipFill>
        <p:spPr>
          <a:xfrm xmlns:a="http://schemas.openxmlformats.org/drawingml/2006/main">
            <a:off x="6200775" y="996616"/>
            <a:ext cx="5391150" cy="4398043"/>
          </a:xfrm>
          <a:prstGeom xmlns:a="http://schemas.openxmlformats.org/drawingml/2006/main" prst="roundRect">
            <a:avLst>
              <a:gd name="adj" fmla="val 1848"/>
            </a:avLst>
          </a:prstGeom>
        </p:spPr>
      </p:pic>
      <p:sp>
        <p:nvSpPr>
          <p:cNvPr id="6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88079E74-3AC2-4168-A250-F18C8C0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 SOURCE · MODEL FLEXIBLE · WORKFLOW NATIVE</a:t>
            </a:r>
          </a:p>
        </p:txBody>
      </p:sp>
      <p:sp>
        <p:nvSpPr>
          <p:cNvPr id="7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9227B0D7-F039-4546-B704-4E2CF66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02451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E7B3437-DB56-4A30-9FBD-79F1C5B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主管要关注的，是它能否进入现有研发流程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31595184-3653-4E9C-AB1C-3FBA753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value-01-index">
            <a:extLst xmlns:a="http://schemas.openxmlformats.org/drawingml/2006/main">
              <a:ext uri="{FF2B5EF4-FFF2-40B4-BE49-F238E27FC236}">
                <a16:creationId xmlns:a16="http://schemas.microsoft.com/office/drawing/2014/main" id="{704EEBEC-0C06-4F00-B586-5496E8A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value-01-accent">
            <a:extLst xmlns:a="http://schemas.openxmlformats.org/drawingml/2006/main">
              <a:ext uri="{FF2B5EF4-FFF2-40B4-BE49-F238E27FC236}">
                <a16:creationId xmlns:a16="http://schemas.microsoft.com/office/drawing/2014/main" id="{1E3918BF-B218-448D-A149-2262CFF0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alue-01-title">
            <a:extLst xmlns:a="http://schemas.openxmlformats.org/drawingml/2006/main">
              <a:ext uri="{FF2B5EF4-FFF2-40B4-BE49-F238E27FC236}">
                <a16:creationId xmlns:a16="http://schemas.microsoft.com/office/drawing/2014/main" id="{4208D81A-34D6-4779-AA2B-635D1048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14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模型可替换</a:t>
            </a:r>
          </a:p>
        </p:txBody>
      </p:sp>
      <p:sp>
        <p:nvSpPr>
          <p:cNvPr id="6" name="value-01-body">
            <a:extLst xmlns:a="http://schemas.openxmlformats.org/drawingml/2006/main">
              <a:ext uri="{FF2B5EF4-FFF2-40B4-BE49-F238E27FC236}">
                <a16:creationId xmlns:a16="http://schemas.microsoft.com/office/drawing/2014/main" id="{D1D29B7A-EFA9-4557-BFFB-344B7B0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连接不同提供商，也能在任务中切换模型。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对团队意味着选择权、成本弹性与供应连续性。</a:t>
            </a:r>
          </a:p>
        </p:txBody>
      </p:sp>
      <p:sp>
        <p:nvSpPr>
          <p:cNvPr id="7" name="value-02-index">
            <a:extLst xmlns:a="http://schemas.openxmlformats.org/drawingml/2006/main">
              <a:ext uri="{FF2B5EF4-FFF2-40B4-BE49-F238E27FC236}">
                <a16:creationId xmlns:a16="http://schemas.microsoft.com/office/drawing/2014/main" id="{2AC63FBE-D03A-487E-9A56-D5B6C53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value-02-accent">
            <a:extLst xmlns:a="http://schemas.openxmlformats.org/drawingml/2006/main">
              <a:ext uri="{FF2B5EF4-FFF2-40B4-BE49-F238E27FC236}">
                <a16:creationId xmlns:a16="http://schemas.microsoft.com/office/drawing/2014/main" id="{31ED1BF8-288C-4238-91A0-DEBE303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value-02-title">
            <a:extLst xmlns:a="http://schemas.openxmlformats.org/drawingml/2006/main">
              <a:ext uri="{FF2B5EF4-FFF2-40B4-BE49-F238E27FC236}">
                <a16:creationId xmlns:a16="http://schemas.microsoft.com/office/drawing/2014/main" id="{9ED441C7-3A9F-42EB-843F-1CF5ECA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流程可组合</a:t>
            </a:r>
          </a:p>
        </p:txBody>
      </p:sp>
      <p:sp>
        <p:nvSpPr>
          <p:cNvPr id="10" name="value-02-body">
            <a:extLst xmlns:a="http://schemas.openxmlformats.org/drawingml/2006/main">
              <a:ext uri="{FF2B5EF4-FFF2-40B4-BE49-F238E27FC236}">
                <a16:creationId xmlns:a16="http://schemas.microsoft.com/office/drawing/2014/main" id="{AEAE6836-5192-4BF4-BBB8-76D6346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TUI、桌面与 IDE 只是入口。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规则、命令、Agent、Skill 与 MCP 才是复用层。</a:t>
            </a:r>
          </a:p>
        </p:txBody>
      </p:sp>
      <p:sp>
        <p:nvSpPr>
          <p:cNvPr id="11" name="value-03-index">
            <a:extLst xmlns:a="http://schemas.openxmlformats.org/drawingml/2006/main">
              <a:ext uri="{FF2B5EF4-FFF2-40B4-BE49-F238E27FC236}">
                <a16:creationId xmlns:a16="http://schemas.microsoft.com/office/drawing/2014/main" id="{EC7601A8-7D4B-404C-B5A4-F9E19B98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value-03-accent">
            <a:extLst xmlns:a="http://schemas.openxmlformats.org/drawingml/2006/main">
              <a:ext uri="{FF2B5EF4-FFF2-40B4-BE49-F238E27FC236}">
                <a16:creationId xmlns:a16="http://schemas.microsoft.com/office/drawing/2014/main" id="{DC4BAC32-A260-4002-8619-CA7F60FE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03-title">
            <a:extLst xmlns:a="http://schemas.openxmlformats.org/drawingml/2006/main">
              <a:ext uri="{FF2B5EF4-FFF2-40B4-BE49-F238E27FC236}">
                <a16:creationId xmlns:a16="http://schemas.microsoft.com/office/drawing/2014/main" id="{0452ADC1-2DF4-4829-9E79-AD6EF8F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边界可配置</a:t>
            </a:r>
          </a:p>
        </p:txBody>
      </p:sp>
      <p:sp>
        <p:nvSpPr>
          <p:cNvPr id="14" name="value-03-body">
            <a:extLst xmlns:a="http://schemas.openxmlformats.org/drawingml/2006/main">
              <a:ext uri="{FF2B5EF4-FFF2-40B4-BE49-F238E27FC236}">
                <a16:creationId xmlns:a16="http://schemas.microsoft.com/office/drawing/2014/main" id="{35E89E8B-6244-4C2F-B868-0C9D7906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用权限、项目配置、Git 与审查，把“能做什么”变成可执行的团队政策。</a:t>
            </a:r>
          </a:p>
        </p:txBody>
      </p:sp>
      <p:sp>
        <p:nvSpPr>
          <p:cNvPr id="15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56F8ACE-A748-45E0-A198-F6D862A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30929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E131703-7FAA-4FB5-BE4C-91BD0072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OpenCode 的差异在开放性与可组合性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37D4A36F-A771-46C9-BB32-FFD6F224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mparison-intro">
            <a:extLst xmlns:a="http://schemas.openxmlformats.org/drawingml/2006/main">
              <a:ext uri="{FF2B5EF4-FFF2-40B4-BE49-F238E27FC236}">
                <a16:creationId xmlns:a16="http://schemas.microsoft.com/office/drawing/2014/main" id="{6E8BDF1D-E737-4112-996B-535CE9C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144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不是“谁最强”的排名，而是选择哪一种产品边界与组织能力。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90525" y="1962150"/>
          <a:ext xmlns:a="http://schemas.openxmlformats.org/drawingml/2006/main" cx="1141095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00250"/>
                <a:gridCol w="2286000"/>
                <a:gridCol w="2952750"/>
                <a:gridCol w="2838450"/>
              </a:tblGrid>
              <a:tr h="727710"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主要入口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模型策略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团队定制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更适合</a:t>
                      </a:r>
                    </a:p>
                  </a:txBody>
                  <a:tcPr marL="91440" marR="91440" marT="45720" marB="45720">
                    <a:solidFill>
                      <a:srgbClr val="17191D"/>
                    </a:solidFill>
                  </a:tcPr>
                </a:tc>
              </a:tr>
              <a:tr h="727710"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OpenCode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TUI / 桌面 / IDE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供应商与模型自由选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 · Commands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 · Skills · MCP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自主、可组合、愿意治理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727710"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 为主 / CLI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平台提供多模型目录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 · Agent · MCP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追求编辑器一体化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</a:t>
                      </a:r>
                    </a:p>
                  </a:txBody>
                  <a:tcPr marL="91440" marR="91440" marT="45720" marB="45720">
                    <a:solidFill>
                      <a:srgbClr val="F5F6F7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 / IDE / 桌面 / Web</a:t>
                      </a:r>
                    </a:p>
                  </a:txBody>
                  <a:tcPr marL="91440" marR="91440" marT="45720" marB="45720">
                    <a:solidFill>
                      <a:srgbClr val="F5F6F7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生态；可走企业云</a:t>
                      </a:r>
                    </a:p>
                  </a:txBody>
                  <a:tcPr marL="91440" marR="91440" marT="45720" marB="45720">
                    <a:solidFill>
                      <a:srgbClr val="F5F6F7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CLAUDE.md · Skills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· MCP</a:t>
                      </a:r>
                    </a:p>
                  </a:txBody>
                  <a:tcPr marL="91440" marR="91440" marT="45720" marB="45720">
                    <a:solidFill>
                      <a:srgbClr val="F5F6F7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追求深度 Agent 流程</a:t>
                      </a:r>
                    </a:p>
                  </a:txBody>
                  <a:tcPr marL="91440" marR="91440" marT="45720" marB="45720">
                    <a:solidFill>
                      <a:srgbClr val="F5F6F7"/>
                    </a:solidFill>
                  </a:tcPr>
                </a:tc>
              </a:tr>
              <a:tr h="727710"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 / IDE / App / Cloud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模型与 ChatGPT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 · Skills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· Hooks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76200" rIns="76200" bIns="76200" anchor="ctr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本地与云端协同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mparison-footnote">
            <a:extLst xmlns:a="http://schemas.openxmlformats.org/drawingml/2006/main">
              <a:ext uri="{FF2B5EF4-FFF2-40B4-BE49-F238E27FC236}">
                <a16:creationId xmlns:a16="http://schemas.microsoft.com/office/drawing/2014/main" id="{C66F8467-6A54-4486-BD42-C7502FC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适用场景为基于官方能力的经验判断；产品能力更新较快（资料核对：2026.07）。</a:t>
            </a:r>
          </a:p>
        </p:txBody>
      </p:sp>
      <p:sp>
        <p:nvSpPr>
          <p:cNvPr id="6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435664D-F288-48FB-B2DD-7D202C1F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0139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B7BC854-AC27-44F3-BC2A-F3D62E1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提示词不是写作文，而是在签工作合同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E699EE69-8FA0-404F-B551-BAA67057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mpt-formula">
            <a:extLst xmlns:a="http://schemas.openxmlformats.org/drawingml/2006/main">
              <a:ext uri="{FF2B5EF4-FFF2-40B4-BE49-F238E27FC236}">
                <a16:creationId xmlns:a16="http://schemas.microsoft.com/office/drawing/2014/main" id="{4C825578-A7DC-4772-A80F-B2E09B91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任务质量 ＝ 上下文 × 范围 × 验收标准 × 验证证据</a:t>
            </a:r>
          </a:p>
        </p:txBody>
      </p:sp>
      <p:sp>
        <p:nvSpPr>
          <p:cNvPr id="4" name="weak-prompt-panel">
            <a:extLst xmlns:a="http://schemas.openxmlformats.org/drawingml/2006/main">
              <a:ext uri="{FF2B5EF4-FFF2-40B4-BE49-F238E27FC236}">
                <a16:creationId xmlns:a16="http://schemas.microsoft.com/office/drawing/2014/main" id="{DB1796DB-B005-4A4D-825F-4C487CF7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76550"/>
            <a:ext cx="550545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weak-prompt-label">
            <a:extLst xmlns:a="http://schemas.openxmlformats.org/drawingml/2006/main">
              <a:ext uri="{FF2B5EF4-FFF2-40B4-BE49-F238E27FC236}">
                <a16:creationId xmlns:a16="http://schemas.microsoft.com/office/drawing/2014/main" id="{97019055-60CA-47AB-98E4-18218EC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模糊愿望</a:t>
            </a:r>
          </a:p>
        </p:txBody>
      </p:sp>
      <p:sp>
        <p:nvSpPr>
          <p:cNvPr id="6" name="weak-prompt-text">
            <a:extLst xmlns:a="http://schemas.openxmlformats.org/drawingml/2006/main">
              <a:ext uri="{FF2B5EF4-FFF2-40B4-BE49-F238E27FC236}">
                <a16:creationId xmlns:a16="http://schemas.microsoft.com/office/drawing/2014/main" id="{50078510-49C7-4DE2-A5C2-0322D20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“帮我优化一下登录模块。”</a:t>
            </a:r>
          </a:p>
        </p:txBody>
      </p:sp>
      <p:sp>
        <p:nvSpPr>
          <p:cNvPr id="7" name="weak-prompt-detail">
            <a:extLst xmlns:a="http://schemas.openxmlformats.org/drawingml/2006/main">
              <a:ext uri="{FF2B5EF4-FFF2-40B4-BE49-F238E27FC236}">
                <a16:creationId xmlns:a16="http://schemas.microsoft.com/office/drawing/2014/main" id="{94A1868C-47ED-4EB9-AE9D-4ACE7E6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01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范围不清 · 成功标准缺失 · 容易顺手大改</a:t>
            </a:r>
          </a:p>
        </p:txBody>
      </p:sp>
      <p:sp>
        <p:nvSpPr>
          <p:cNvPr id="8" name="strong-prompt-panel">
            <a:extLst xmlns:a="http://schemas.openxmlformats.org/drawingml/2006/main">
              <a:ext uri="{FF2B5EF4-FFF2-40B4-BE49-F238E27FC236}">
                <a16:creationId xmlns:a16="http://schemas.microsoft.com/office/drawing/2014/main" id="{93C2314E-BF8C-4986-B159-108AABF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514975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rong-prompt-label">
            <a:extLst xmlns:a="http://schemas.openxmlformats.org/drawingml/2006/main">
              <a:ext uri="{FF2B5EF4-FFF2-40B4-BE49-F238E27FC236}">
                <a16:creationId xmlns:a16="http://schemas.microsoft.com/office/drawing/2014/main" id="{34C55345-0EA8-4796-B3F7-D7DD0D5D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可执行合同</a:t>
            </a:r>
          </a:p>
        </p:txBody>
      </p:sp>
      <p:sp>
        <p:nvSpPr>
          <p:cNvPr id="10" name="strong-prompt-text">
            <a:extLst xmlns:a="http://schemas.openxmlformats.org/drawingml/2006/main">
              <a:ext uri="{FF2B5EF4-FFF2-40B4-BE49-F238E27FC236}">
                <a16:creationId xmlns:a16="http://schemas.microsoft.com/office/drawing/2014/main" id="{094F969E-340B-4B9B-9A6C-9DFB907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8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先只读分析 @src/auth；列出根因和不超过 5 步计划。只改错误处理，不升级依赖；测试通过后总结 diff 与残余风险。</a:t>
            </a:r>
          </a:p>
        </p:txBody>
      </p:sp>
      <p:sp>
        <p:nvSpPr>
          <p:cNvPr id="11" name="strong-prompt-detail">
            <a:extLst xmlns:a="http://schemas.openxmlformats.org/drawingml/2006/main">
              <a:ext uri="{FF2B5EF4-FFF2-40B4-BE49-F238E27FC236}">
                <a16:creationId xmlns:a16="http://schemas.microsoft.com/office/drawing/2014/main" id="{B96D44FC-FAA4-46D0-909E-22C9DD0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10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上下文：@ 文件 · 边界：只改什么 · 验收：测试通过 · 证据：diff + 风险</a:t>
            </a:r>
          </a:p>
        </p:txBody>
      </p:sp>
      <p:sp>
        <p:nvSpPr>
          <p:cNvPr id="1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3B5CEF41-92CC-44C7-9853-4E6998DD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6473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957F6EE-67A2-4FA4-8EAE-B8C1C43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稳定输出靠闭环，不靠一句万能提示词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E7626730-1FEF-4F1E-9AC8-B174546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op-intro">
            <a:extLst xmlns:a="http://schemas.openxmlformats.org/drawingml/2006/main">
              <a:ext uri="{FF2B5EF4-FFF2-40B4-BE49-F238E27FC236}">
                <a16:creationId xmlns:a16="http://schemas.microsoft.com/office/drawing/2014/main" id="{216BA847-AE5C-4E50-8842-957ED339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141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把一次任务拆成三段，每一段都留下可检查的证据。</a:t>
            </a:r>
          </a:p>
        </p:txBody>
      </p:sp>
      <p:sp>
        <p:nvSpPr>
          <p:cNvPr id="4" name="loop-line">
            <a:extLst xmlns:a="http://schemas.openxmlformats.org/drawingml/2006/main">
              <a:ext uri="{FF2B5EF4-FFF2-40B4-BE49-F238E27FC236}">
                <a16:creationId xmlns:a16="http://schemas.microsoft.com/office/drawing/2014/main" id="{178D2560-7D36-4ED4-B3AC-B0F21CF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op-dot-1">
            <a:extLst xmlns:a="http://schemas.openxmlformats.org/drawingml/2006/main">
              <a:ext uri="{FF2B5EF4-FFF2-40B4-BE49-F238E27FC236}">
                <a16:creationId xmlns:a16="http://schemas.microsoft.com/office/drawing/2014/main" id="{F4F76D75-C5D5-476B-ADEF-E53D8BA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label-1">
            <a:extLst xmlns:a="http://schemas.openxmlformats.org/drawingml/2006/main">
              <a:ext uri="{FF2B5EF4-FFF2-40B4-BE49-F238E27FC236}">
                <a16:creationId xmlns:a16="http://schemas.microsoft.com/office/drawing/2014/main" id="{EDDA5C9A-0777-41BF-9F72-7BEDAB2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7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596A2F62-F06B-44DC-9A1E-919A287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00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定位与理解</a:t>
            </a:r>
          </a:p>
        </p:txBody>
      </p:sp>
      <p:sp>
        <p:nvSpPr>
          <p:cNvPr id="8" name="loop-body-1">
            <a:extLst xmlns:a="http://schemas.openxmlformats.org/drawingml/2006/main">
              <a:ext uri="{FF2B5EF4-FFF2-40B4-BE49-F238E27FC236}">
                <a16:creationId xmlns:a16="http://schemas.microsoft.com/office/drawing/2014/main" id="{AA47859A-1B78-4A32-9A90-A5D946D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用 @ 引用、搜索和 LSP 定位入口；先确认成功标准。</a:t>
            </a:r>
          </a:p>
        </p:txBody>
      </p:sp>
      <p:sp>
        <p:nvSpPr>
          <p:cNvPr id="9" name="loop-dot-2">
            <a:extLst xmlns:a="http://schemas.openxmlformats.org/drawingml/2006/main">
              <a:ext uri="{FF2B5EF4-FFF2-40B4-BE49-F238E27FC236}">
                <a16:creationId xmlns:a16="http://schemas.microsoft.com/office/drawing/2014/main" id="{2CF545BD-EE86-4EA7-A48A-E912C0E5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label-2">
            <a:extLst xmlns:a="http://schemas.openxmlformats.org/drawingml/2006/main">
              <a:ext uri="{FF2B5EF4-FFF2-40B4-BE49-F238E27FC236}">
                <a16:creationId xmlns:a16="http://schemas.microsoft.com/office/drawing/2014/main" id="{A3240834-F066-488D-8446-CACEAC36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PLAN / BUILD</a:t>
            </a:r>
          </a:p>
        </p:txBody>
      </p:sp>
      <p:sp>
        <p:nvSpPr>
          <p:cNvPr id="11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5020AD7A-7EDF-4FE6-BE6B-6EE9EC0B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12" name="loop-body-2">
            <a:extLst xmlns:a="http://schemas.openxmlformats.org/drawingml/2006/main">
              <a:ext uri="{FF2B5EF4-FFF2-40B4-BE49-F238E27FC236}">
                <a16:creationId xmlns:a16="http://schemas.microsoft.com/office/drawing/2014/main" id="{4FE46B09-FD96-438C-AB4B-64A7E4B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Plan 先拆解；Build 小步改；高风险动作先审批。</a:t>
            </a:r>
          </a:p>
        </p:txBody>
      </p:sp>
      <p:sp>
        <p:nvSpPr>
          <p:cNvPr id="13" name="loop-dot-3">
            <a:extLst xmlns:a="http://schemas.openxmlformats.org/drawingml/2006/main">
              <a:ext uri="{FF2B5EF4-FFF2-40B4-BE49-F238E27FC236}">
                <a16:creationId xmlns:a16="http://schemas.microsoft.com/office/drawing/2014/main" id="{E2B34440-F6E2-45F3-8A61-D277C81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label-3">
            <a:extLst xmlns:a="http://schemas.openxmlformats.org/drawingml/2006/main">
              <a:ext uri="{FF2B5EF4-FFF2-40B4-BE49-F238E27FC236}">
                <a16:creationId xmlns:a16="http://schemas.microsoft.com/office/drawing/2014/main" id="{189765C8-2AE2-4774-8C45-64A5079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49716C41-5644-4D48-921D-45BBAD2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1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A7F65604-7C88-4211-A50F-758BB83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运行相关测试、审查 diff；不对就回滚或 /undo 后重写任务。</a:t>
            </a:r>
          </a:p>
        </p:txBody>
      </p:sp>
      <p:sp>
        <p:nvSpPr>
          <p:cNvPr id="17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0AF651CF-191D-40C5-BADA-F17AE419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0779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6329F66-7A5D-4B09-BABE-DCD89963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四类任务最容易快速产生价值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09772B5D-6124-42D6-ACDA-B093641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lays-v-rule">
            <a:extLst xmlns:a="http://schemas.openxmlformats.org/drawingml/2006/main">
              <a:ext uri="{FF2B5EF4-FFF2-40B4-BE49-F238E27FC236}">
                <a16:creationId xmlns:a16="http://schemas.microsoft.com/office/drawing/2014/main" id="{B6CDB2BD-F543-4927-87DE-C6DAE9D5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2880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lays-h-rule">
            <a:extLst xmlns:a="http://schemas.openxmlformats.org/drawingml/2006/main">
              <a:ext uri="{FF2B5EF4-FFF2-40B4-BE49-F238E27FC236}">
                <a16:creationId xmlns:a16="http://schemas.microsoft.com/office/drawing/2014/main" id="{6060AE77-6F0B-44ED-8014-E224712C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290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lay-01-num">
            <a:extLst xmlns:a="http://schemas.openxmlformats.org/drawingml/2006/main">
              <a:ext uri="{FF2B5EF4-FFF2-40B4-BE49-F238E27FC236}">
                <a16:creationId xmlns:a16="http://schemas.microsoft.com/office/drawing/2014/main" id="{EE5E18A3-E8E1-47E9-A00A-6617C52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lay-01-title">
            <a:extLst xmlns:a="http://schemas.openxmlformats.org/drawingml/2006/main">
              <a:ext uri="{FF2B5EF4-FFF2-40B4-BE49-F238E27FC236}">
                <a16:creationId xmlns:a16="http://schemas.microsoft.com/office/drawing/2014/main" id="{6FB40D94-D7C3-444B-AA98-F548D4B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读懂代码库</a:t>
            </a:r>
          </a:p>
        </p:txBody>
      </p:sp>
      <p:sp>
        <p:nvSpPr>
          <p:cNvPr id="7" name="play-01-prompt-bg">
            <a:extLst xmlns:a="http://schemas.openxmlformats.org/drawingml/2006/main">
              <a:ext uri="{FF2B5EF4-FFF2-40B4-BE49-F238E27FC236}">
                <a16:creationId xmlns:a16="http://schemas.microsoft.com/office/drawing/2014/main" id="{A38E92BD-1911-457F-96F4-F1FED2E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5095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ADE"/>
            </a:solidFill>
            <a:prstDash val="solid"/>
          </a:ln>
        </p:spPr>
      </p:sp>
      <p:sp>
        <p:nvSpPr>
          <p:cNvPr id="8" name="play-01-prompt">
            <a:extLst xmlns:a="http://schemas.openxmlformats.org/drawingml/2006/main">
              <a:ext uri="{FF2B5EF4-FFF2-40B4-BE49-F238E27FC236}">
                <a16:creationId xmlns:a16="http://schemas.microsoft.com/office/drawing/2014/main" id="{B677062C-06B1-42ED-BCE8-DB8EC3A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52700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只读分析支付模块；给出入口、关键依赖、风险点和验证路径。</a:t>
            </a:r>
          </a:p>
        </p:txBody>
      </p:sp>
      <p:sp>
        <p:nvSpPr>
          <p:cNvPr id="9" name="play-02-num">
            <a:extLst xmlns:a="http://schemas.openxmlformats.org/drawingml/2006/main">
              <a:ext uri="{FF2B5EF4-FFF2-40B4-BE49-F238E27FC236}">
                <a16:creationId xmlns:a16="http://schemas.microsoft.com/office/drawing/2014/main" id="{2D30A44C-6155-4D02-9607-E07DA280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lay-02-title">
            <a:extLst xmlns:a="http://schemas.openxmlformats.org/drawingml/2006/main">
              <a:ext uri="{FF2B5EF4-FFF2-40B4-BE49-F238E27FC236}">
                <a16:creationId xmlns:a16="http://schemas.microsoft.com/office/drawing/2014/main" id="{D99F24B5-42D1-4FAE-95C4-99A76FBA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定位并修复</a:t>
            </a:r>
          </a:p>
        </p:txBody>
      </p:sp>
      <p:sp>
        <p:nvSpPr>
          <p:cNvPr id="11" name="play-02-prompt-bg">
            <a:extLst xmlns:a="http://schemas.openxmlformats.org/drawingml/2006/main">
              <a:ext uri="{FF2B5EF4-FFF2-40B4-BE49-F238E27FC236}">
                <a16:creationId xmlns:a16="http://schemas.microsoft.com/office/drawing/2014/main" id="{0DB71D52-2357-4198-94A2-5813A92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5095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ADE"/>
            </a:solidFill>
            <a:prstDash val="solid"/>
          </a:ln>
        </p:spPr>
      </p:sp>
      <p:sp>
        <p:nvSpPr>
          <p:cNvPr id="12" name="play-02-prompt">
            <a:extLst xmlns:a="http://schemas.openxmlformats.org/drawingml/2006/main">
              <a:ext uri="{FF2B5EF4-FFF2-40B4-BE49-F238E27FC236}">
                <a16:creationId xmlns:a16="http://schemas.microsoft.com/office/drawing/2014/main" id="{4B3BCEA1-0848-4698-9BEC-550CB5BB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先复现并给出根因证据；确认后做最小修复并跑相关测试。</a:t>
            </a:r>
          </a:p>
        </p:txBody>
      </p:sp>
      <p:sp>
        <p:nvSpPr>
          <p:cNvPr id="13" name="play-03-num">
            <a:extLst xmlns:a="http://schemas.openxmlformats.org/drawingml/2006/main">
              <a:ext uri="{FF2B5EF4-FFF2-40B4-BE49-F238E27FC236}">
                <a16:creationId xmlns:a16="http://schemas.microsoft.com/office/drawing/2014/main" id="{35AD1B90-B5B6-4F9C-B584-20A4FF8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lay-03-title">
            <a:extLst xmlns:a="http://schemas.openxmlformats.org/drawingml/2006/main">
              <a:ext uri="{FF2B5EF4-FFF2-40B4-BE49-F238E27FC236}">
                <a16:creationId xmlns:a16="http://schemas.microsoft.com/office/drawing/2014/main" id="{71FA59F5-5BAC-46CD-91D9-EF6D365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受控改造</a:t>
            </a:r>
          </a:p>
        </p:txBody>
      </p:sp>
      <p:sp>
        <p:nvSpPr>
          <p:cNvPr id="15" name="play-03-prompt-bg">
            <a:extLst xmlns:a="http://schemas.openxmlformats.org/drawingml/2006/main">
              <a:ext uri="{FF2B5EF4-FFF2-40B4-BE49-F238E27FC236}">
                <a16:creationId xmlns:a16="http://schemas.microsoft.com/office/drawing/2014/main" id="{C6F3D156-D144-4004-9185-3A1E2A2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5095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ADE"/>
            </a:solidFill>
            <a:prstDash val="solid"/>
          </a:ln>
        </p:spPr>
      </p:sp>
      <p:sp>
        <p:nvSpPr>
          <p:cNvPr id="16" name="play-03-prompt">
            <a:extLst xmlns:a="http://schemas.openxmlformats.org/drawingml/2006/main">
              <a:ext uri="{FF2B5EF4-FFF2-40B4-BE49-F238E27FC236}">
                <a16:creationId xmlns:a16="http://schemas.microsoft.com/office/drawing/2014/main" id="{2EE3A9B1-D7B6-43F0-B3F0-1809C3D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43450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只改指定文件；保持对外接口；不升级依赖；说明回滚方式。</a:t>
            </a:r>
          </a:p>
        </p:txBody>
      </p:sp>
      <p:sp>
        <p:nvSpPr>
          <p:cNvPr id="17" name="play-04-num">
            <a:extLst xmlns:a="http://schemas.openxmlformats.org/drawingml/2006/main">
              <a:ext uri="{FF2B5EF4-FFF2-40B4-BE49-F238E27FC236}">
                <a16:creationId xmlns:a16="http://schemas.microsoft.com/office/drawing/2014/main" id="{4EBD9A6A-48CA-492A-BCB5-E79AD49E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play-04-title">
            <a:extLst xmlns:a="http://schemas.openxmlformats.org/drawingml/2006/main">
              <a:ext uri="{FF2B5EF4-FFF2-40B4-BE49-F238E27FC236}">
                <a16:creationId xmlns:a16="http://schemas.microsoft.com/office/drawing/2014/main" id="{60C8F3EC-8FE2-4695-AD6F-1DEF5B18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审查变更</a:t>
            </a:r>
          </a:p>
        </p:txBody>
      </p:sp>
      <p:sp>
        <p:nvSpPr>
          <p:cNvPr id="19" name="play-04-prompt-bg">
            <a:extLst xmlns:a="http://schemas.openxmlformats.org/drawingml/2006/main">
              <a:ext uri="{FF2B5EF4-FFF2-40B4-BE49-F238E27FC236}">
                <a16:creationId xmlns:a16="http://schemas.microsoft.com/office/drawing/2014/main" id="{7BAC5FBE-7742-4576-BD2B-8B1A7BB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509587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7DADE"/>
            </a:solidFill>
            <a:prstDash val="solid"/>
          </a:ln>
        </p:spPr>
      </p:sp>
      <p:sp>
        <p:nvSpPr>
          <p:cNvPr id="20" name="play-04-prompt">
            <a:extLst xmlns:a="http://schemas.openxmlformats.org/drawingml/2006/main">
              <a:ext uri="{FF2B5EF4-FFF2-40B4-BE49-F238E27FC236}">
                <a16:creationId xmlns:a16="http://schemas.microsoft.com/office/drawing/2014/main" id="{9967634F-6015-4D04-B351-7A362A8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43450"/>
            <a:ext cx="471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审查当前变更；按阻断、重要、建议分级，标注文件和行号。</a:t>
            </a:r>
          </a:p>
        </p:txBody>
      </p:sp>
      <p:sp>
        <p:nvSpPr>
          <p:cNvPr id="21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2DF19F3-7B8D-4FD6-9987-9A48FB0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9140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AD9C18D-02F6-436B-B129-79DC440D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把一次好对话沉淀成团队能力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873D865C-D41F-4719-A37E-FB7FEB1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use-thesis">
            <a:extLst xmlns:a="http://schemas.openxmlformats.org/drawingml/2006/main">
              <a:ext uri="{FF2B5EF4-FFF2-40B4-BE49-F238E27FC236}">
                <a16:creationId xmlns:a16="http://schemas.microsoft.com/office/drawing/2014/main" id="{C6A15CEB-F94C-49B3-960E-1D366D7E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571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一次好对话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不值得复制粘贴，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值得产品化。</a:t>
            </a:r>
          </a:p>
        </p:txBody>
      </p:sp>
      <p:sp>
        <p:nvSpPr>
          <p:cNvPr id="4" name="reuse-body">
            <a:extLst xmlns:a="http://schemas.openxmlformats.org/drawingml/2006/main">
              <a:ext uri="{FF2B5EF4-FFF2-40B4-BE49-F238E27FC236}">
                <a16:creationId xmlns:a16="http://schemas.microsoft.com/office/drawing/2014/main" id="{97BFE22A-72A8-45E1-8989-DFA1B4F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381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把隐性经验拆成四种资产，提交到仓库，团队才能复用。</a:t>
            </a:r>
          </a:p>
        </p:txBody>
      </p:sp>
      <p:sp>
        <p:nvSpPr>
          <p:cNvPr id="5" name="reuse-label-1">
            <a:extLst xmlns:a="http://schemas.openxmlformats.org/drawingml/2006/main">
              <a:ext uri="{FF2B5EF4-FFF2-40B4-BE49-F238E27FC236}">
                <a16:creationId xmlns:a16="http://schemas.microsoft.com/office/drawing/2014/main" id="{B8EE6C72-122B-4BCD-ACA2-7F29C5C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6" name="reuse-body-1">
            <a:extLst xmlns:a="http://schemas.openxmlformats.org/drawingml/2006/main">
              <a:ext uri="{FF2B5EF4-FFF2-40B4-BE49-F238E27FC236}">
                <a16:creationId xmlns:a16="http://schemas.microsoft.com/office/drawing/2014/main" id="{BCB05F53-F1F7-44D4-9AFD-42F09AC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AGENTS.md：项目结构、约束、构建与验证命令</a:t>
            </a:r>
          </a:p>
        </p:txBody>
      </p:sp>
      <p:sp>
        <p:nvSpPr>
          <p:cNvPr id="7" name="reuse-rule-1">
            <a:extLst xmlns:a="http://schemas.openxmlformats.org/drawingml/2006/main">
              <a:ext uri="{FF2B5EF4-FFF2-40B4-BE49-F238E27FC236}">
                <a16:creationId xmlns:a16="http://schemas.microsoft.com/office/drawing/2014/main" id="{03783B95-7797-4E3B-A5DE-E06641C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71775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use-label-2">
            <a:extLst xmlns:a="http://schemas.openxmlformats.org/drawingml/2006/main">
              <a:ext uri="{FF2B5EF4-FFF2-40B4-BE49-F238E27FC236}">
                <a16:creationId xmlns:a16="http://schemas.microsoft.com/office/drawing/2014/main" id="{5FC514D1-A265-4F35-9E8D-47A21C22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43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COMMANDS</a:t>
            </a:r>
          </a:p>
        </p:txBody>
      </p:sp>
      <p:sp>
        <p:nvSpPr>
          <p:cNvPr id="9" name="reuse-body-2">
            <a:extLst xmlns:a="http://schemas.openxmlformats.org/drawingml/2006/main">
              <a:ext uri="{FF2B5EF4-FFF2-40B4-BE49-F238E27FC236}">
                <a16:creationId xmlns:a16="http://schemas.microsoft.com/office/drawing/2014/main" id="{C32A1884-F178-4BEE-85D5-CDC5168D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43225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/review、/test：把重复任务变成稳定入口</a:t>
            </a:r>
          </a:p>
        </p:txBody>
      </p:sp>
      <p:sp>
        <p:nvSpPr>
          <p:cNvPr id="10" name="reuse-rule-2">
            <a:extLst xmlns:a="http://schemas.openxmlformats.org/drawingml/2006/main">
              <a:ext uri="{FF2B5EF4-FFF2-40B4-BE49-F238E27FC236}">
                <a16:creationId xmlns:a16="http://schemas.microsoft.com/office/drawing/2014/main" id="{18B35E6A-BC12-43E9-8852-50333CDB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62375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use-label-3">
            <a:extLst xmlns:a="http://schemas.openxmlformats.org/drawingml/2006/main">
              <a:ext uri="{FF2B5EF4-FFF2-40B4-BE49-F238E27FC236}">
                <a16:creationId xmlns:a16="http://schemas.microsoft.com/office/drawing/2014/main" id="{DB884EB0-AB9B-47DE-B7E6-1D28F2B8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38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AGENTS + SKILLS</a:t>
            </a:r>
          </a:p>
        </p:txBody>
      </p:sp>
      <p:sp>
        <p:nvSpPr>
          <p:cNvPr id="12" name="reuse-body-3">
            <a:extLst xmlns:a="http://schemas.openxmlformats.org/drawingml/2006/main">
              <a:ext uri="{FF2B5EF4-FFF2-40B4-BE49-F238E27FC236}">
                <a16:creationId xmlns:a16="http://schemas.microsoft.com/office/drawing/2014/main" id="{120CBEF7-ED80-4AAD-ABB8-7D7C8E7B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33825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按职责隔离上下文、工具与权限；按需加载流程</a:t>
            </a:r>
          </a:p>
        </p:txBody>
      </p:sp>
      <p:sp>
        <p:nvSpPr>
          <p:cNvPr id="13" name="reuse-rule-3">
            <a:extLst xmlns:a="http://schemas.openxmlformats.org/drawingml/2006/main">
              <a:ext uri="{FF2B5EF4-FFF2-40B4-BE49-F238E27FC236}">
                <a16:creationId xmlns:a16="http://schemas.microsoft.com/office/drawing/2014/main" id="{1AD73761-692B-43CB-88C8-46AA36E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52975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use-label-4">
            <a:extLst xmlns:a="http://schemas.openxmlformats.org/drawingml/2006/main">
              <a:ext uri="{FF2B5EF4-FFF2-40B4-BE49-F238E27FC236}">
                <a16:creationId xmlns:a16="http://schemas.microsoft.com/office/drawing/2014/main" id="{9F4F1989-CE71-40A7-B1F0-21487E6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24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MCP + MODELS</a:t>
            </a:r>
          </a:p>
        </p:txBody>
      </p:sp>
      <p:sp>
        <p:nvSpPr>
          <p:cNvPr id="15" name="reuse-body-4">
            <a:extLst xmlns:a="http://schemas.openxmlformats.org/drawingml/2006/main">
              <a:ext uri="{FF2B5EF4-FFF2-40B4-BE49-F238E27FC236}">
                <a16:creationId xmlns:a16="http://schemas.microsoft.com/office/drawing/2014/main" id="{E780B292-B3BF-4B99-9860-66D73249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连接外部工具；按速度、成本与能力路由模型</a:t>
            </a:r>
          </a:p>
        </p:txBody>
      </p:sp>
      <p:sp>
        <p:nvSpPr>
          <p:cNvPr id="16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31E1909E-1F6E-4AFE-97D8-A2E9A26B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68289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1A0D901-D36E-4A71-BCE4-AE52C1E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安全边界要配置，不能只靠口头提醒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6C2325A6-3D76-40DB-89AD-349FC83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vernance-intro">
            <a:extLst xmlns:a="http://schemas.openxmlformats.org/drawingml/2006/main">
              <a:ext uri="{FF2B5EF4-FFF2-40B4-BE49-F238E27FC236}">
                <a16:creationId xmlns:a16="http://schemas.microsoft.com/office/drawing/2014/main" id="{0FC58D6D-167A-45B2-A5F8-2244D572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10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团队基线：提供商白名单 · 敏感仓库禁用 Share · 密钥进入密钥系统 · 所有改动进入 Git 审查</a:t>
            </a:r>
          </a:p>
        </p:txBody>
      </p:sp>
      <p:sp>
        <p:nvSpPr>
          <p:cNvPr id="4" name="governance-ALLOW-panel">
            <a:extLst xmlns:a="http://schemas.openxmlformats.org/drawingml/2006/main">
              <a:ext uri="{FF2B5EF4-FFF2-40B4-BE49-F238E27FC236}">
                <a16:creationId xmlns:a16="http://schemas.microsoft.com/office/drawing/2014/main" id="{AFC5D6AD-4CA8-4757-AC60-E0386AFD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35623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vernance-ALLOW-label">
            <a:extLst xmlns:a="http://schemas.openxmlformats.org/drawingml/2006/main">
              <a:ext uri="{FF2B5EF4-FFF2-40B4-BE49-F238E27FC236}">
                <a16:creationId xmlns:a16="http://schemas.microsoft.com/office/drawing/2014/main" id="{916322DF-7DB1-42E1-9A91-196F847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28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6" name="governance-ALLOW-body">
            <a:extLst xmlns:a="http://schemas.openxmlformats.org/drawingml/2006/main">
              <a:ext uri="{FF2B5EF4-FFF2-40B4-BE49-F238E27FC236}">
                <a16:creationId xmlns:a16="http://schemas.microsoft.com/office/drawing/2014/main" id="{CB45FB61-8171-444C-83B5-DC6583B8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052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读文件与搜索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 status / diff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针对性 test / lint</a:t>
            </a:r>
          </a:p>
        </p:txBody>
      </p:sp>
      <p:sp>
        <p:nvSpPr>
          <p:cNvPr id="7" name="governance-ASK-panel">
            <a:extLst xmlns:a="http://schemas.openxmlformats.org/drawingml/2006/main">
              <a:ext uri="{FF2B5EF4-FFF2-40B4-BE49-F238E27FC236}">
                <a16:creationId xmlns:a16="http://schemas.microsoft.com/office/drawing/2014/main" id="{029D0CEA-FE5A-457D-B3B3-BC632484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governance-ASK-label">
            <a:extLst xmlns:a="http://schemas.openxmlformats.org/drawingml/2006/main">
              <a:ext uri="{FF2B5EF4-FFF2-40B4-BE49-F238E27FC236}">
                <a16:creationId xmlns:a16="http://schemas.microsoft.com/office/drawing/2014/main" id="{CF4E3F41-88B1-4966-9305-BD9B0E2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9" name="governance-ASK-body">
            <a:extLst xmlns:a="http://schemas.openxmlformats.org/drawingml/2006/main">
              <a:ext uri="{FF2B5EF4-FFF2-40B4-BE49-F238E27FC236}">
                <a16:creationId xmlns:a16="http://schemas.microsoft.com/office/drawing/2014/main" id="{D4E2AC95-AD53-4318-80DE-A7E50E4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052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安装依赖与迁移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外部网络或目录</a:t>
            </a:r>
          </a:p>
        </p:txBody>
      </p:sp>
      <p:sp>
        <p:nvSpPr>
          <p:cNvPr id="10" name="governance-DENY-panel">
            <a:extLst xmlns:a="http://schemas.openxmlformats.org/drawingml/2006/main">
              <a:ext uri="{FF2B5EF4-FFF2-40B4-BE49-F238E27FC236}">
                <a16:creationId xmlns:a16="http://schemas.microsoft.com/office/drawing/2014/main" id="{618E0020-5D79-454E-8A58-D14406C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35623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17191D"/>
          </a:solidFill>
          <a:ln xmlns:a="http://schemas.openxmlformats.org/drawingml/2006/main" w="9525">
            <a:solidFill>
              <a:srgbClr val="17191D"/>
            </a:solidFill>
            <a:prstDash val="solid"/>
          </a:ln>
        </p:spPr>
      </p:sp>
      <p:sp>
        <p:nvSpPr>
          <p:cNvPr id="11" name="governance-DENY-label">
            <a:extLst xmlns:a="http://schemas.openxmlformats.org/drawingml/2006/main">
              <a:ext uri="{FF2B5EF4-FFF2-40B4-BE49-F238E27FC236}">
                <a16:creationId xmlns:a16="http://schemas.microsoft.com/office/drawing/2014/main" id="{AE629E7D-8F1C-4327-8771-28CE1AF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289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DENY</a:t>
            </a:r>
          </a:p>
        </p:txBody>
      </p:sp>
      <p:sp>
        <p:nvSpPr>
          <p:cNvPr id="12" name="governance-DENY-body">
            <a:extLst xmlns:a="http://schemas.openxmlformats.org/drawingml/2006/main">
              <a:ext uri="{FF2B5EF4-FFF2-40B4-BE49-F238E27FC236}">
                <a16:creationId xmlns:a16="http://schemas.microsoft.com/office/drawing/2014/main" id="{72C9820F-31C5-456D-BB4D-B8D02BBB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052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生产命令与 push / deploy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公开分享敏感会话</a:t>
            </a:r>
          </a:p>
        </p:txBody>
      </p:sp>
      <p:sp>
        <p:nvSpPr>
          <p:cNvPr id="13" name="governance-footnote">
            <a:extLst xmlns:a="http://schemas.openxmlformats.org/drawingml/2006/main">
              <a:ext uri="{FF2B5EF4-FFF2-40B4-BE49-F238E27FC236}">
                <a16:creationId xmlns:a16="http://schemas.microsoft.com/office/drawing/2014/main" id="{AA0D29B8-218F-4B59-AE52-85688AE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权限基线应由安全、平台与项目负责人按仓库风险分级。</a:t>
            </a:r>
          </a:p>
        </p:txBody>
      </p:sp>
      <p:sp>
        <p:nvSpPr>
          <p:cNvPr id="1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42F2D582-BF0A-44F0-B27A-5DEBC5B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70539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C3A8738-93A7-431F-AFB1-50DF928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从两周试点开始，而不是全面推广</a:t>
            </a:r>
          </a:p>
        </p:txBody>
      </p:sp>
      <p:sp>
        <p:nvSpPr>
          <p:cNvPr id="2" name="slide-9-title-rule">
            <a:extLst xmlns:a="http://schemas.openxmlformats.org/drawingml/2006/main">
              <a:ext uri="{FF2B5EF4-FFF2-40B4-BE49-F238E27FC236}">
                <a16:creationId xmlns:a16="http://schemas.microsoft.com/office/drawing/2014/main" id="{66571D90-39FB-4C01-8206-74853BA0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ot-metrics">
            <a:extLst xmlns:a="http://schemas.openxmlformats.org/drawingml/2006/main">
              <a:ext uri="{FF2B5EF4-FFF2-40B4-BE49-F238E27FC236}">
                <a16:creationId xmlns:a16="http://schemas.microsoft.com/office/drawing/2014/main" id="{6CB0561D-ECB9-4EA5-959C-7A4E1095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14450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只看五个指标：被接受的变更用时 · 首次测试通过 · Review 返工 · 单任务成本 · 安全例外</a:t>
            </a:r>
          </a:p>
        </p:txBody>
      </p:sp>
      <p:sp>
        <p:nvSpPr>
          <p:cNvPr id="4" name="pilot-line">
            <a:extLst xmlns:a="http://schemas.openxmlformats.org/drawingml/2006/main">
              <a:ext uri="{FF2B5EF4-FFF2-40B4-BE49-F238E27FC236}">
                <a16:creationId xmlns:a16="http://schemas.microsoft.com/office/drawing/2014/main" id="{B01E7D02-DB30-491C-B8A8-5452DA68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ilot-card-1">
            <a:extLst xmlns:a="http://schemas.openxmlformats.org/drawingml/2006/main">
              <a:ext uri="{FF2B5EF4-FFF2-40B4-BE49-F238E27FC236}">
                <a16:creationId xmlns:a16="http://schemas.microsoft.com/office/drawing/2014/main" id="{3C3F5689-BCB3-407D-843E-02A4F2F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35623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5ECC40AC-CB52-411D-B9A8-E9667A5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24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 0 周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定边界</a:t>
            </a:r>
          </a:p>
        </p:txBody>
      </p:sp>
      <p:sp>
        <p:nvSpPr>
          <p:cNvPr id="7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3F889F92-8B00-4629-99EF-0D6823D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2900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选 1 个仓库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限定 3 类低风险任务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配置模型、权限与 Share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8" name="pilot-dot-1">
            <a:extLst xmlns:a="http://schemas.openxmlformats.org/drawingml/2006/main">
              <a:ext uri="{FF2B5EF4-FFF2-40B4-BE49-F238E27FC236}">
                <a16:creationId xmlns:a16="http://schemas.microsoft.com/office/drawing/2014/main" id="{627AF056-1097-49B7-B6A7-39B365D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label-1">
            <a:extLst xmlns:a="http://schemas.openxmlformats.org/drawingml/2006/main">
              <a:ext uri="{FF2B5EF4-FFF2-40B4-BE49-F238E27FC236}">
                <a16:creationId xmlns:a16="http://schemas.microsoft.com/office/drawing/2014/main" id="{15F45813-64AC-455C-8F80-082A135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0" name="pilot-card-2">
            <a:extLst xmlns:a="http://schemas.openxmlformats.org/drawingml/2006/main">
              <a:ext uri="{FF2B5EF4-FFF2-40B4-BE49-F238E27FC236}">
                <a16:creationId xmlns:a16="http://schemas.microsoft.com/office/drawing/2014/main" id="{88FDBA0E-CC4F-43AE-8BAF-05D88D6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19300"/>
            <a:ext cx="35623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D0884DF4-008F-474F-97DB-E8871613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24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做任务</a:t>
            </a:r>
          </a:p>
        </p:txBody>
      </p:sp>
      <p:sp>
        <p:nvSpPr>
          <p:cNvPr id="12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A4DC94AA-1B4C-4656-A495-E76F32E9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每人完成 3–5 个真实任务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保留提示、diff 与测试证据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记录耗时、成本与返工</a:t>
            </a:r>
          </a:p>
        </p:txBody>
      </p:sp>
      <p:sp>
        <p:nvSpPr>
          <p:cNvPr id="13" name="pilot-dot-2">
            <a:extLst xmlns:a="http://schemas.openxmlformats.org/drawingml/2006/main">
              <a:ext uri="{FF2B5EF4-FFF2-40B4-BE49-F238E27FC236}">
                <a16:creationId xmlns:a16="http://schemas.microsoft.com/office/drawing/2014/main" id="{57762F9B-4BBB-434B-AC2F-CE8F6B11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72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ot-label-2">
            <a:extLst xmlns:a="http://schemas.openxmlformats.org/drawingml/2006/main">
              <a:ext uri="{FF2B5EF4-FFF2-40B4-BE49-F238E27FC236}">
                <a16:creationId xmlns:a16="http://schemas.microsoft.com/office/drawing/2014/main" id="{E985FA70-83AA-46FA-9044-160337ED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75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pilot-card-3">
            <a:extLst xmlns:a="http://schemas.openxmlformats.org/drawingml/2006/main">
              <a:ext uri="{FF2B5EF4-FFF2-40B4-BE49-F238E27FC236}">
                <a16:creationId xmlns:a16="http://schemas.microsoft.com/office/drawing/2014/main" id="{740934BC-87A5-4007-844B-00435986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19300"/>
            <a:ext cx="35623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44516BA0-CB06-4334-9621-3C259C3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24100"/>
            <a:ext cx="302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做决定</a:t>
            </a:r>
          </a:p>
        </p:txBody>
      </p:sp>
      <p:sp>
        <p:nvSpPr>
          <p:cNvPr id="17" name="pilot-body-3">
            <a:extLst xmlns:a="http://schemas.openxmlformats.org/drawingml/2006/main">
              <a:ext uri="{FF2B5EF4-FFF2-40B4-BE49-F238E27FC236}">
                <a16:creationId xmlns:a16="http://schemas.microsoft.com/office/drawing/2014/main" id="{0BAA21D5-6EC2-49E0-B8C7-AC2A695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429000"/>
            <a:ext cx="3028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复盘通过率与安全例外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把好做法写入 Rules / Commands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决定扩大、调整或停止</a:t>
            </a:r>
          </a:p>
        </p:txBody>
      </p:sp>
      <p:sp>
        <p:nvSpPr>
          <p:cNvPr id="18" name="pilot-dot-3">
            <a:extLst xmlns:a="http://schemas.openxmlformats.org/drawingml/2006/main">
              <a:ext uri="{FF2B5EF4-FFF2-40B4-BE49-F238E27FC236}">
                <a16:creationId xmlns:a16="http://schemas.microsoft.com/office/drawing/2014/main" id="{DB184E7E-74A5-4136-9D5F-31B3A30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72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lot-label-3">
            <a:extLst xmlns:a="http://schemas.openxmlformats.org/drawingml/2006/main">
              <a:ext uri="{FF2B5EF4-FFF2-40B4-BE49-F238E27FC236}">
                <a16:creationId xmlns:a16="http://schemas.microsoft.com/office/drawing/2014/main" id="{74A0866F-30A9-4C64-83D0-ED42022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5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0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BF872095-7067-4CF1-8691-28C1D13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78890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8615DB5-F7E5-4317-A3B0-BB5F0F6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DB4A5E1-DB53-4BDC-B0E3-4B2259CA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33C6BE7-FB8D-4545-9D46-13EE3AE6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66850"/>
            <a:ext cx="96012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从一个仓库、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三类任务、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两周试点开始</a:t>
            </a:r>
          </a:p>
        </p:txBody>
      </p:sp>
      <p:sp>
        <p:nvSpPr>
          <p:cNvPr id="4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B692B733-A14F-49DA-9D1A-0E96A97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054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先读后改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小步验证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权限前置</a:t>
            </a:r>
          </a:p>
        </p:txBody>
      </p:sp>
      <p:sp>
        <p:nvSpPr>
          <p:cNvPr id="5" name="close-outcome">
            <a:extLst xmlns:a="http://schemas.openxmlformats.org/drawingml/2006/main">
              <a:ext uri="{FF2B5EF4-FFF2-40B4-BE49-F238E27FC236}">
                <a16:creationId xmlns:a16="http://schemas.microsoft.com/office/drawing/2014/main" id="{F1F412A9-E6A0-4358-AF62-17079E2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49434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目标不是让 Agent 写更多代码，</a:t>
            </a:r>
          </a:p>
          <a:p xmlns:a="http://schemas.openxmlformats.org/drawingml/2006/main">
            <a:pPr algn="r">
              <a:def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而是更快得到可审查的正确结果。</a:t>
            </a:r>
          </a:p>
        </p:txBody>
      </p:sp>
      <p:sp>
        <p:nvSpPr>
          <p:cNvPr id="6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8AD72BFA-A5FC-40F1-B6CF-8DC9966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11396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2026-07-29T07:43:31.0860000Z</dcterms:created>
  <dcterms:modified xsi:type="dcterms:W3CDTF">2026-07-29T07:43:31.0870000Z</dcterms:modified>
</coreProperties>
</file>